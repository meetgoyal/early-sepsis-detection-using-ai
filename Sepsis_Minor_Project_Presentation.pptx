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C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C2A"/>
                </a:solidFill>
                <a:latin typeface="Arial"/>
              </a:rPr>
              <a:t>AUROC vs. AUPRC (discrimination looks stable)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2B7A6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LR</c:v>
                  </c:pt>
                  <c:pt idx="1">
                    <c:v>XGB + scale_pos_weight</c:v>
                  </c:pt>
                  <c:pt idx="2">
                    <c:v>XGB + Borderline-SMOTE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0.7848</c:v>
                </c:pt>
                <c:pt idx="1">
                  <c:v>0.7585</c:v>
                </c:pt>
                <c:pt idx="2">
                  <c:v>0.7558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AUPRC</c:v>
                </c:pt>
              </c:strCache>
            </c:strRef>
          </c:tx>
          <c:spPr>
            <a:solidFill>
              <a:srgbClr val="C98B4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LR</c:v>
                  </c:pt>
                  <c:pt idx="1">
                    <c:v>XGB + scale_pos_weight</c:v>
                  </c:pt>
                  <c:pt idx="2">
                    <c:v>XGB + Borderline-SMOTE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0.1327</c:v>
                </c:pt>
                <c:pt idx="1">
                  <c:v>0.1064</c:v>
                </c:pt>
                <c:pt idx="2">
                  <c:v>0.0602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C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6D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</c:scaling>
        <c:delete val="0"/>
        <c:axPos val="l"/>
        <c:majorGridlines>
          <c:spPr>
            <a:ln w="9525" cap="flat">
              <a:solidFill>
                <a:srgbClr val="DDE8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6D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F6D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C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C2A"/>
                </a:solidFill>
                <a:latin typeface="Arial"/>
              </a:rPr>
              <a:t>Precision vs. Recall (the real trade-off)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PPV (Precision)</c:v>
                </c:pt>
              </c:strCache>
            </c:strRef>
          </c:tx>
          <c:spPr>
            <a:solidFill>
              <a:srgbClr val="2B7A6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LR</c:v>
                  </c:pt>
                  <c:pt idx="1">
                    <c:v>XGB + scale_pos_weight</c:v>
                  </c:pt>
                  <c:pt idx="2">
                    <c:v>XGB + Borderline-SMOTE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0.0518</c:v>
                </c:pt>
                <c:pt idx="2">
                  <c:v>0.0486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C98B4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 LR</c:v>
                  </c:pt>
                  <c:pt idx="1">
                    <c:v>XGB + scale_pos_weight</c:v>
                  </c:pt>
                  <c:pt idx="2">
                    <c:v>XGB + Borderline-SMOTE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0.0601</c:v>
                </c:pt>
                <c:pt idx="1">
                  <c:v>0.3773</c:v>
                </c:pt>
                <c:pt idx="2">
                  <c:v>0.409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C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6D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</c:scaling>
        <c:delete val="0"/>
        <c:axPos val="l"/>
        <c:majorGridlines>
          <c:spPr>
            <a:ln w="9525" cap="flat">
              <a:solidFill>
                <a:srgbClr val="DDE8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F6D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F6D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B4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PRESENTATION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Sepsis Identification Using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Clinical Data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5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Predictive and Explainable Framework for a 4–6 Hour Early-Warning Alert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3246120"/>
            <a:ext cx="4206240" cy="0"/>
          </a:xfrm>
          <a:prstGeom prst="line">
            <a:avLst/>
          </a:prstGeom>
          <a:noFill/>
          <a:ln w="12700">
            <a:solidFill>
              <a:srgbClr val="527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401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Anmol Dua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5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Roll No.: 09717711923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Chehak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5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Roll No.: 06317711923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Goyal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5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Roll No.: 07017711923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340156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22524A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3566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3816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Sapna Yadav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38160" y="4224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Professor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38160" y="4526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9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Degree: B.Tech — AIDS/AIML/IOT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6126480"/>
            <a:ext cx="10835640" cy="0"/>
          </a:xfrm>
          <a:prstGeom prst="line">
            <a:avLst/>
          </a:prstGeom>
          <a:noFill/>
          <a:ln w="9525">
            <a:solidFill>
              <a:srgbClr val="4D74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6263640"/>
            <a:ext cx="1083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739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VIVEKANANDA INSTITUTE OF PROFESSIONAL STUDIES – TECHNICAL CAMPUS   |   Semester 7   |   Academic Year 2023–2027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race against the clock in the ICU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hour of delay before treatment raises sepsis mortality by ~7.6%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173F3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1488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4–6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66928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37947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pre-onset detection window — early enough for fluid resuscitation and targeted antibiotics to matter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187452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2B7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43400" y="213055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— 7th Semester, B.Tech AIDS/AIML/IoT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258775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2B7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3400" y="2843784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Vivekananda Institute of Professional Studies – Technical Campus (GGSIP University, Delhi)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3300984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2B7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43400" y="3557016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Anmol Dua · Chehak · Meet Goyal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401421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2B7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43400" y="4270248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Sapna Yadav, Assistant Professor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96188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5961888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focus: fuse continuous vitals, intermittent labs, and clinical notes into one explainable, lead-time-aware sepsis alert.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bedside scoring systems miss the window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SOFA, qSOFA, SIRS and MEWS confirm damage — they don't forecast it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530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2B7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CURRENT SCORES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5300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by design — trigger only after organ dysfunction (SOFA &gt; 2) is already underway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qSOFA: high specificity but low sensitivity for early-stage deterioration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Static, point-in-time snapshots — miss non-linear temporal trajectories in vitals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 of unstructured clinical notes that often flag suspicion hours earlier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24448" y="1874520"/>
            <a:ext cx="530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CONSEQUENCES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24448" y="2194560"/>
            <a:ext cx="5300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~7.6% rise in mortality risk for every hour antimicrobial therapy is delayed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Sepsis-positive windows are &lt;5% of ICU hours — naive models chase misleading accuracy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Poorly calibrated commercial tools (e.g. Epic Sepsis Model, AUROC 0.63) cause alert fatigue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Single-center models degrade sharply when moved across hospitals or departments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596188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5961888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flag sepsis risk hours before organ damage — without drowning clinicians in false alarms.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connected workstreams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ICU records to an explainable, clinically-timed alert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1965960"/>
            <a:ext cx="479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24128" y="2240280"/>
            <a:ext cx="4797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 1.55M+ multi-parameter clinical records with sliding-window normalization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70168" y="19659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27368" y="1965960"/>
            <a:ext cx="479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 Mitigation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27368" y="2240280"/>
            <a:ext cx="4797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Borderline-SMOTE and cost-sensitive Focal Loss to counter &lt;5% positive-class skew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337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3337560"/>
            <a:ext cx="479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Ensembles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24128" y="3611880"/>
            <a:ext cx="4797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XGBoost, Random Forest and LightGBM on 4–6 hour pre-onset windows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0168" y="3337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27368" y="3337560"/>
            <a:ext cx="479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27368" y="3611880"/>
            <a:ext cx="4797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structured vitals/labs with ClinicalBERT embeddings of clinical notes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709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" y="4709160"/>
            <a:ext cx="479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4983480"/>
            <a:ext cx="4797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and attention-weight visualizations for every generated alert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70168" y="4709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27368" y="4709160"/>
            <a:ext cx="479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Benchmarking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27368" y="4983480"/>
            <a:ext cx="4797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with AUPRC, F1 and the PhysioNet Utility Metric, not accuracy alone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96188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961888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accepted, well-calibrated signals reach the clinician — explained, timed, and trustworthy.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four-layer clinical ML pipeline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has a clear responsibility, from raw signal to explained alert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91440" cy="850392"/>
          </a:xfrm>
          <a:prstGeom prst="rect">
            <a:avLst/>
          </a:prstGeom>
          <a:solidFill>
            <a:srgbClr val="2B7A68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920240"/>
            <a:ext cx="10966399" cy="850392"/>
          </a:xfrm>
          <a:prstGeom prst="rect">
            <a:avLst/>
          </a:prstGeom>
          <a:solidFill>
            <a:srgbClr val="E5ECE8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920240"/>
            <a:ext cx="1828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52928" y="199339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PhysioNet Challenge 2019 · MIMIC-IV + MIMIC-IV-Note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52928" y="23225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vitals &amp; labs, plus unstructured clinical progress narratives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66928" y="2971800"/>
            <a:ext cx="91440" cy="850392"/>
          </a:xfrm>
          <a:prstGeom prst="rect">
            <a:avLst/>
          </a:prstGeom>
          <a:solidFill>
            <a:srgbClr val="2B7A68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2971800"/>
            <a:ext cx="10966399" cy="850392"/>
          </a:xfrm>
          <a:prstGeom prst="rect">
            <a:avLst/>
          </a:prstGeom>
          <a:solidFill>
            <a:srgbClr val="EAF1F0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2971800"/>
            <a:ext cx="1828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52928" y="304495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imbalanced-learn (SMOTE / Borderline-SMOTE) · Focal Loss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52928" y="337413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Corrects severe skew (&lt;5% sepsis-positive hourly windows) without data leakage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91440" cy="850392"/>
          </a:xfrm>
          <a:prstGeom prst="rect">
            <a:avLst/>
          </a:prstGeom>
          <a:solidFill>
            <a:srgbClr val="2B7A68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4023360"/>
            <a:ext cx="10966399" cy="850392"/>
          </a:xfrm>
          <a:prstGeom prst="rect">
            <a:avLst/>
          </a:prstGeom>
          <a:solidFill>
            <a:srgbClr val="DDE8E3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4023360"/>
            <a:ext cx="1828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52928" y="409651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· LightGBM · Random Forest · PyTorch + Hugging Face ClinicalBERT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52928" y="442569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ensembles fused with fine-tuned clinical-text embeddings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66928" y="5074920"/>
            <a:ext cx="91440" cy="850392"/>
          </a:xfrm>
          <a:prstGeom prst="rect">
            <a:avLst/>
          </a:prstGeom>
          <a:solidFill>
            <a:srgbClr val="2B7A68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5074920"/>
            <a:ext cx="10966399" cy="850392"/>
          </a:xfrm>
          <a:prstGeom prst="rect">
            <a:avLst/>
          </a:prstGeom>
          <a:solidFill>
            <a:srgbClr val="CFDAD5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" y="5074920"/>
            <a:ext cx="18288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25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852928" y="514807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· LIME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52928" y="547725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TreeSHAP/KernelSHAP feature attribution + token-level attention visualization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66928" y="596188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" y="5961888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was benchmarked independently before being combined into the fused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processing pipeline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multimodal ICU streams to a lead-time-aware, explained alert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2524430" cy="1417320"/>
          </a:xfrm>
          <a:prstGeom prst="roundRect">
            <a:avLst>
              <a:gd name="adj" fmla="val 3871"/>
            </a:avLst>
          </a:prstGeom>
          <a:solidFill>
            <a:srgbClr val="E5ECE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17929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Acquisition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17929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ICU streams: vitals, labs, clinical notes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1398" y="1920240"/>
            <a:ext cx="2524430" cy="1417320"/>
          </a:xfrm>
          <a:prstGeom prst="roundRect">
            <a:avLst>
              <a:gd name="adj" fmla="val 3871"/>
            </a:avLst>
          </a:prstGeom>
          <a:solidFill>
            <a:srgbClr val="E5ECE8"/>
          </a:solidFill>
          <a:ln/>
        </p:spPr>
      </p:sp>
      <p:sp>
        <p:nvSpPr>
          <p:cNvPr id="11" name="Text 9"/>
          <p:cNvSpPr/>
          <p:nvPr/>
        </p:nvSpPr>
        <p:spPr>
          <a:xfrm>
            <a:off x="3575990" y="20574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33190" y="2057400"/>
            <a:ext cx="17929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33190" y="2331720"/>
            <a:ext cx="17929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Forward-fill + median imputation, Z-score normalization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5868" y="1920240"/>
            <a:ext cx="2524430" cy="1417320"/>
          </a:xfrm>
          <a:prstGeom prst="roundRect">
            <a:avLst>
              <a:gd name="adj" fmla="val 3871"/>
            </a:avLst>
          </a:prstGeom>
          <a:solidFill>
            <a:srgbClr val="E5ECE8"/>
          </a:solidFill>
          <a:ln/>
        </p:spPr>
      </p:sp>
      <p:sp>
        <p:nvSpPr>
          <p:cNvPr id="15" name="Text 13"/>
          <p:cNvSpPr/>
          <p:nvPr/>
        </p:nvSpPr>
        <p:spPr>
          <a:xfrm>
            <a:off x="6420460" y="20574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77660" y="2057400"/>
            <a:ext cx="17929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 Handling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77660" y="2331720"/>
            <a:ext cx="17929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Borderline-SMOTE and Focal Loss on the training partition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00337" y="1920240"/>
            <a:ext cx="2524430" cy="1417320"/>
          </a:xfrm>
          <a:prstGeom prst="roundRect">
            <a:avLst>
              <a:gd name="adj" fmla="val 3871"/>
            </a:avLst>
          </a:prstGeom>
          <a:solidFill>
            <a:srgbClr val="E5ECE8"/>
          </a:solidFill>
          <a:ln/>
        </p:spPr>
      </p:sp>
      <p:sp>
        <p:nvSpPr>
          <p:cNvPr id="19" name="Text 17"/>
          <p:cNvSpPr/>
          <p:nvPr/>
        </p:nvSpPr>
        <p:spPr>
          <a:xfrm>
            <a:off x="9264929" y="20574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22129" y="2057400"/>
            <a:ext cx="17929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Modeling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722129" y="2331720"/>
            <a:ext cx="17929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Sliding-window ensembles: XGBoost, Random Forest, LightGBM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520440"/>
            <a:ext cx="2524430" cy="1417320"/>
          </a:xfrm>
          <a:prstGeom prst="roundRect">
            <a:avLst>
              <a:gd name="adj" fmla="val 3871"/>
            </a:avLst>
          </a:prstGeom>
          <a:solidFill>
            <a:srgbClr val="DDE8E3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6576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3657600"/>
            <a:ext cx="17929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Embedding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17929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ClinicalBERT on nursing &amp; progress notes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11398" y="3520440"/>
            <a:ext cx="2524430" cy="1417320"/>
          </a:xfrm>
          <a:prstGeom prst="roundRect">
            <a:avLst>
              <a:gd name="adj" fmla="val 3871"/>
            </a:avLst>
          </a:prstGeom>
          <a:solidFill>
            <a:srgbClr val="DDE8E3"/>
          </a:solidFill>
          <a:ln/>
        </p:spPr>
      </p:sp>
      <p:sp>
        <p:nvSpPr>
          <p:cNvPr id="27" name="Text 25"/>
          <p:cNvSpPr/>
          <p:nvPr/>
        </p:nvSpPr>
        <p:spPr>
          <a:xfrm>
            <a:off x="3575990" y="36576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033190" y="3657600"/>
            <a:ext cx="17929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033190" y="3931920"/>
            <a:ext cx="17929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Cross-attention / late-fusion of structured + text signals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55868" y="3520440"/>
            <a:ext cx="2524430" cy="1417320"/>
          </a:xfrm>
          <a:prstGeom prst="roundRect">
            <a:avLst>
              <a:gd name="adj" fmla="val 3871"/>
            </a:avLst>
          </a:prstGeom>
          <a:solidFill>
            <a:srgbClr val="DDE8E3"/>
          </a:solidFill>
          <a:ln/>
        </p:spPr>
      </p:sp>
      <p:sp>
        <p:nvSpPr>
          <p:cNvPr id="31" name="Text 29"/>
          <p:cNvSpPr/>
          <p:nvPr/>
        </p:nvSpPr>
        <p:spPr>
          <a:xfrm>
            <a:off x="6420460" y="36576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77660" y="3657600"/>
            <a:ext cx="17929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77660" y="3931920"/>
            <a:ext cx="17929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feature attribution + attention-weight visualization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00337" y="3520440"/>
            <a:ext cx="2524430" cy="1417320"/>
          </a:xfrm>
          <a:prstGeom prst="roundRect">
            <a:avLst>
              <a:gd name="adj" fmla="val 3871"/>
            </a:avLst>
          </a:prstGeom>
          <a:solidFill>
            <a:srgbClr val="DDE8E3"/>
          </a:solidFill>
          <a:ln/>
        </p:spPr>
      </p:sp>
      <p:sp>
        <p:nvSpPr>
          <p:cNvPr id="35" name="Text 33"/>
          <p:cNvSpPr/>
          <p:nvPr/>
        </p:nvSpPr>
        <p:spPr>
          <a:xfrm>
            <a:off x="9264929" y="36576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8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722129" y="3657600"/>
            <a:ext cx="17929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Output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722129" y="3931920"/>
            <a:ext cx="17929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hour pre-onset sepsis risk alert, utility-calibrated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" y="596188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/>
        </p:spPr>
      </p:sp>
      <p:sp>
        <p:nvSpPr>
          <p:cNvPr id="39" name="Text 37"/>
          <p:cNvSpPr/>
          <p:nvPr/>
        </p:nvSpPr>
        <p:spPr>
          <a:xfrm>
            <a:off x="795528" y="5961888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clinically actionable, explained alerts reach the bedside.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GAP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Severe class imbalance → high false-positive rates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Sepsis-positive windows are typically under 5% of all ICU monitoring hours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173F3A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14884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“accuracy paradox”: a model can hit &gt;95% accuracy by always predicting “no sepsis” — and AUROC alone hides the same failure.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39776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PPV under this skew means every real alert competes with a flood of false ones — the exact cause of alert fatigue seen in deployed tools like the Epic Sepsis Model.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406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2B7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PROJECT ADDRESSES 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40680" y="224028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Borderline-SMOTE oversampling combined with cost-sensitive Focal Loss during training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shifted from AUROC-only reporting to AUPRC, F1 and the PhysioNet Utility Metric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thresholds calibrated for real-world PPV and false-alarm burden, not headline accuracy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time-series SMOTE avoided in favor of window-aware oversampling to keep sequences physiologically plausible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596188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5961888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our pipeline: naive class-weighting lifts recall 6x but crashes AUPRC — exactly why utility-based thresholds matter (see Results).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GAP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Lack of lead-time optimization in multimodal pipelines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retrospective accuracy rarely translates into a clinically actionable alert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HAPPENS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cross-entropy losses treat every correct positive equally, regardless of how early it fired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trigger too late (concurrent with organ failure) or too early with poor specificity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 update by the minute; nursing/progress notes arrive only every 8–12 hours — naive fusion misaligns the two clocks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frameworks report lead-time-aware metrics at all — most stop at discrimination statistics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32120" y="19202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22524A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21488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PROJECT ADDRESSES 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0" y="2487168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hour pre-onset window treated as a first-class training and evaluation objective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generated on sliding windows benchmarked specifically at this horizon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PhysioNet Utility Metric rewards correctly-timed detections, penalizes early or late alerts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threshold selected by maximizing total clinical utility, not just accuracy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596188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5961888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Utility-threshold calibration is what ultimately delivered a median 6-hour lead time in our experiments (see Results).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run on a synthetic fallback dataset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42-column schema as the PhysioNet/CinC Challenge 2019 dataset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E5ECE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2860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5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120,300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66928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records · 42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4128" y="3429000"/>
            <a:ext cx="2286000" cy="0"/>
          </a:xfrm>
          <a:prstGeom prst="line">
            <a:avLst/>
          </a:prstGeom>
          <a:noFill/>
          <a:ln w="9525">
            <a:solidFill>
              <a:srgbClr val="7396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611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7A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41248" y="4160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SepsisLabel==1 positive rate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5528" y="4846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 (HR, O2Sat, Temp, SBP, MAP…), labs (BaseExcess, HCO3, Fibrinogen, Platelets…), demographics and ICU length-of-stay — patient IDs synthetically generated.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0560" y="1920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2B7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TEST SPLIT (PATIENT-WISE)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2331720"/>
            <a:ext cx="6400800" cy="777240"/>
          </a:xfrm>
          <a:prstGeom prst="roundRect">
            <a:avLst>
              <a:gd name="adj" fmla="val 7059"/>
            </a:avLst>
          </a:prstGeom>
          <a:solidFill>
            <a:srgbClr val="EAF1F0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33172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23317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89,759 rows   ·   1,125 patients   ·   3.24% positive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3246120"/>
            <a:ext cx="6400800" cy="777240"/>
          </a:xfrm>
          <a:prstGeom prst="roundRect">
            <a:avLst>
              <a:gd name="adj" fmla="val 7059"/>
            </a:avLst>
          </a:prstGeom>
          <a:solidFill>
            <a:srgbClr val="EAF1F0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24612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32461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30,541 rows   ·   375 patients   ·   1.96% positive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80560" y="42976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the licensed PhysioNet/MIMIC-IV extract was unavailable in the Colab runtime, so this pilot uses a schema-matched synthetic fallback generator for the full pipeline dry run — real-data validation is the immediate next step.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96188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5961888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results on the following slides are from this synthetic pilot run — methodology validation, not clinical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accuracy paradox, confirmed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accuracy looked great — and was almost useless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300320" cy="3611880"/>
          </a:xfrm>
          <a:prstGeom prst="roundRect">
            <a:avLst>
              <a:gd name="adj" fmla="val 2025"/>
            </a:avLst>
          </a:prstGeom>
          <a:solidFill>
            <a:srgbClr val="E5ECE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03120"/>
            <a:ext cx="475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2B7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— LOGISTIC REGRESSION (THRESHOLD 0.5)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450592"/>
            <a:ext cx="4751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98.13% — looks great, is misleading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AUROC: 0.7848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AUPRC: 0.1327 — the real story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PPV: 0.80  ·  Recall: 0.0601  ·  F1: 0.1118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1F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45 alerts fired out of 30,541 hours (599 truly positive) — model stays almost silent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5300320" cy="3611880"/>
          </a:xfrm>
          <a:prstGeom prst="roundRect">
            <a:avLst>
              <a:gd name="adj" fmla="val 2025"/>
            </a:avLst>
          </a:prstGeom>
          <a:solidFill>
            <a:srgbClr val="22524A"/>
          </a:solidFill>
          <a:ln/>
        </p:spPr>
      </p:sp>
      <p:sp>
        <p:nvSpPr>
          <p:cNvPr id="10" name="Text 8"/>
          <p:cNvSpPr/>
          <p:nvPr/>
        </p:nvSpPr>
        <p:spPr>
          <a:xfrm>
            <a:off x="6598768" y="2103120"/>
            <a:ext cx="475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IMBALANCE-CORRECTED XGBOOST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98768" y="2450592"/>
            <a:ext cx="4751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scale_pos_weight: AUROC 0.7585 · AUPRC 0.1064 · PPV 0.0518 · Recall 0.3773 · F1 0.0910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Borderline-SMOTE: AUROC 0.7558 · AUPRC 0.0602 · PPV 0.0486 · Recall 0.4090 · F1 0.0869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jumps ~6–7x over baseline — but PPV and AUPRC fall sharply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Confirms: fixing recall alone is not enough — thresholds must be tuned for clinical utility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596188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5961888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accuracy hides the real story — evaluation must center on AUPRC, PPV and clinical utility, not accuracy alone.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discrimination, very different trade-offs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imbalance-handling strategies benchmarked on the same task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96596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144768" y="196596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596188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/>
        </p:spPr>
      </p:sp>
      <p:sp>
        <p:nvSpPr>
          <p:cNvPr id="9" name="Text 5"/>
          <p:cNvSpPr/>
          <p:nvPr/>
        </p:nvSpPr>
        <p:spPr>
          <a:xfrm>
            <a:off x="795528" y="5961888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barely moves across models — AUPRC and the precision/recall swing reveal what actually changes at the bedside.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Utility-calibrated thresholding delivers real lead time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threshold selected by maximizing total clinical utility, not accuracy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2558720" cy="1920240"/>
          </a:xfrm>
          <a:prstGeom prst="roundRect">
            <a:avLst>
              <a:gd name="adj" fmla="val 3810"/>
            </a:avLst>
          </a:prstGeom>
          <a:solidFill>
            <a:srgbClr val="E5ECE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148840"/>
            <a:ext cx="255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5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04088" y="2971800"/>
            <a:ext cx="2284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septic patients flagged with an early alert (19 / 19 in the test set)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9968" y="1965960"/>
            <a:ext cx="2558720" cy="1920240"/>
          </a:xfrm>
          <a:prstGeom prst="roundRect">
            <a:avLst>
              <a:gd name="adj" fmla="val 3810"/>
            </a:avLst>
          </a:prstGeom>
          <a:solidFill>
            <a:srgbClr val="E5ECE8"/>
          </a:solidFill>
          <a:ln/>
        </p:spPr>
      </p:sp>
      <p:sp>
        <p:nvSpPr>
          <p:cNvPr id="10" name="Text 8"/>
          <p:cNvSpPr/>
          <p:nvPr/>
        </p:nvSpPr>
        <p:spPr>
          <a:xfrm>
            <a:off x="3399968" y="2148840"/>
            <a:ext cx="255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5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13.58 hrs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37128" y="2971800"/>
            <a:ext cx="2284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lead time before clinical onset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3008" y="1965960"/>
            <a:ext cx="2558720" cy="1920240"/>
          </a:xfrm>
          <a:prstGeom prst="roundRect">
            <a:avLst>
              <a:gd name="adj" fmla="val 3810"/>
            </a:avLst>
          </a:prstGeom>
          <a:solidFill>
            <a:srgbClr val="E5ECE8"/>
          </a:solidFill>
          <a:ln/>
        </p:spPr>
      </p:sp>
      <p:sp>
        <p:nvSpPr>
          <p:cNvPr id="13" name="Text 11"/>
          <p:cNvSpPr/>
          <p:nvPr/>
        </p:nvSpPr>
        <p:spPr>
          <a:xfrm>
            <a:off x="6233008" y="2148840"/>
            <a:ext cx="255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5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6.00 hrs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70168" y="2971800"/>
            <a:ext cx="2284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lead time before onset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66047" y="1965960"/>
            <a:ext cx="2558720" cy="1920240"/>
          </a:xfrm>
          <a:prstGeom prst="roundRect">
            <a:avLst>
              <a:gd name="adj" fmla="val 3810"/>
            </a:avLst>
          </a:prstGeom>
          <a:solidFill>
            <a:srgbClr val="E5ECE8"/>
          </a:solidFill>
          <a:ln/>
        </p:spPr>
      </p:sp>
      <p:sp>
        <p:nvSpPr>
          <p:cNvPr id="16" name="Text 14"/>
          <p:cNvSpPr/>
          <p:nvPr/>
        </p:nvSpPr>
        <p:spPr>
          <a:xfrm>
            <a:off x="9066047" y="2148840"/>
            <a:ext cx="255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5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203207" y="2971800"/>
            <a:ext cx="2284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alerts land inside the target 3–6 hour window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22524A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160520"/>
            <a:ext cx="1050919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utility-based threshold: 0.05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Total utility: –46.34 vs. –380.00 for a never-alert policy   </a:t>
            </a:r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 early relabeling attempt at the raw 3–6h window, AUROC 0.487, underperformed — utility-threshold calibration on the original labels is what worked)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96188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73F3A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5961888"/>
            <a:ext cx="10600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 median 6-hour warning before onset — comfortably inside the clinically actionable 3–6 hour treatment window.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B4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77295" y="384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39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proof-of-concept to a clinically actionable alert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 run validated the pipeline end-to-end on a schema-matched synthetic dataset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5181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304288"/>
            <a:ext cx="518144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the accuracy paradox: 98% accuracy alongside AUPRC of just 0.13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 correction lifts recall ~6–7x but trades away precision — needs calibrated thresholds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Utility-optimized threshold (0.05) recovers strong net clinical utility over a never-alert baseline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Lead-time-aware alerting fires a median 6 hours before onset, inside the target window 58% of the time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24448" y="1965960"/>
            <a:ext cx="5181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C98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24448" y="2304288"/>
            <a:ext cx="518144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on real MIMIC-IV + MIMIC-IV-Note data in place of the synthetic fallback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ClinicalBERT on real clinical narratives and complete the cross-attention fusion layer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prospective, multi-site validation to test generalization across hospital workflows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SHAP explanations into a clinician-facing dashboard with a feedback loop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562356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22524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62356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synthetic proof-of-concept to a lead-time-aware, explainable multimodal sepsis alert system.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2026-09-17T19:21:58Z</dcterms:created>
  <dcterms:modified xsi:type="dcterms:W3CDTF">2026-09-17T19:21:58Z</dcterms:modified>
</cp:coreProperties>
</file>